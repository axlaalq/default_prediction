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4630400" cy="8229600"/>
  <p:notesSz cx="8229600" cy="14630400"/>
  <p:embeddedFontLst>
    <p:embeddedFont>
      <p:font typeface="Nanum Gothic" panose="020B0604020202020204" charset="-127"/>
      <p:regular r:id="rId6"/>
    </p:embeddedFont>
    <p:embeddedFont>
      <p:font typeface="Source Sans 3" panose="020B0604020202020204" charset="0"/>
      <p:regular r:id="rId7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el Aarón Luna Quiñones" userId="f4f85428-2a9c-4c44-8f0a-d30d89bf3c34" providerId="ADAL" clId="{2F0F7C47-2A1E-4C4E-A460-7AFE3060A7CC}"/>
    <pc:docChg chg="modSld">
      <pc:chgData name="Axel Aarón Luna Quiñones" userId="f4f85428-2a9c-4c44-8f0a-d30d89bf3c34" providerId="ADAL" clId="{2F0F7C47-2A1E-4C4E-A460-7AFE3060A7CC}" dt="2026-03-26T17:22:28.125" v="26" actId="20577"/>
      <pc:docMkLst>
        <pc:docMk/>
      </pc:docMkLst>
      <pc:sldChg chg="modSp mod">
        <pc:chgData name="Axel Aarón Luna Quiñones" userId="f4f85428-2a9c-4c44-8f0a-d30d89bf3c34" providerId="ADAL" clId="{2F0F7C47-2A1E-4C4E-A460-7AFE3060A7CC}" dt="2026-03-26T17:22:28.125" v="26" actId="20577"/>
        <pc:sldMkLst>
          <pc:docMk/>
          <pc:sldMk cId="0" sldId="257"/>
        </pc:sldMkLst>
        <pc:spChg chg="mod">
          <ac:chgData name="Axel Aarón Luna Quiñones" userId="f4f85428-2a9c-4c44-8f0a-d30d89bf3c34" providerId="ADAL" clId="{2F0F7C47-2A1E-4C4E-A460-7AFE3060A7CC}" dt="2026-03-26T17:22:28.125" v="26" actId="20577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Axel Aarón Luna Quiñones" userId="f4f85428-2a9c-4c44-8f0a-d30d89bf3c34" providerId="ADAL" clId="{2F0F7C47-2A1E-4C4E-A460-7AFE3060A7CC}" dt="2026-03-26T17:22:23.226" v="25" actId="20577"/>
        <pc:sldMkLst>
          <pc:docMk/>
          <pc:sldMk cId="0" sldId="258"/>
        </pc:sldMkLst>
        <pc:spChg chg="mod">
          <ac:chgData name="Axel Aarón Luna Quiñones" userId="f4f85428-2a9c-4c44-8f0a-d30d89bf3c34" providerId="ADAL" clId="{2F0F7C47-2A1E-4C4E-A460-7AFE3060A7CC}" dt="2026-03-26T17:22:23.226" v="25" actId="20577"/>
          <ac:spMkLst>
            <pc:docMk/>
            <pc:sldMk cId="0" sldId="258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16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802" y="350534"/>
            <a:ext cx="10000893" cy="669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124E7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Dataset Overview &amp; Feature Engineering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77802" y="1108476"/>
            <a:ext cx="11586685" cy="350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Dataset de crédito de Taiwan con 30,000 registros y 23 variables originales. Tasa de incumplimiento del 22.1% en población general.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77802" y="1872853"/>
            <a:ext cx="297120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 err="1">
                <a:solidFill>
                  <a:srgbClr val="124E7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Preprocesamiento</a:t>
            </a:r>
            <a:r>
              <a:rPr lang="en-US" sz="2100" dirty="0">
                <a:solidFill>
                  <a:srgbClr val="124E7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7540" y="1872853"/>
            <a:ext cx="6988016" cy="2541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endParaRPr lang="en-US" sz="1650" dirty="0">
              <a:solidFill>
                <a:srgbClr val="2B415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MARRIAGE=0: 54 </a:t>
            </a:r>
            <a:r>
              <a:rPr lang="en-US" sz="16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registros</a:t>
            </a: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eliminados</a:t>
            </a: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(default rate </a:t>
            </a:r>
            <a:r>
              <a:rPr lang="en-US" sz="16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atípico</a:t>
            </a: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9.3% vs 22.1%) </a:t>
            </a:r>
          </a:p>
          <a:p>
            <a:pPr marL="285750" indent="-285750" algn="l">
              <a:lnSpc>
                <a:spcPts val="26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Variables </a:t>
            </a:r>
            <a:r>
              <a:rPr lang="en-US" sz="16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monetarias</a:t>
            </a: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</a:t>
            </a:r>
            <a:r>
              <a:rPr lang="en-US" sz="16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transformación</a:t>
            </a: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log1p para </a:t>
            </a:r>
            <a:r>
              <a:rPr lang="en-US" sz="16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reducir</a:t>
            </a: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sesgo</a:t>
            </a: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</a:p>
          <a:p>
            <a:pPr marL="285750" indent="-285750" algn="l">
              <a:lnSpc>
                <a:spcPts val="26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Flags de </a:t>
            </a:r>
            <a:r>
              <a:rPr lang="en-US" sz="16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comportamiento</a:t>
            </a: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DELAY_PAYS, DELAY_PAYS2, DULY_PAYS</a:t>
            </a:r>
          </a:p>
          <a:p>
            <a:pPr marL="285750" indent="-285750" algn="l">
              <a:lnSpc>
                <a:spcPts val="26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Variables </a:t>
            </a:r>
            <a:r>
              <a:rPr lang="en-US" sz="16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adicionales</a:t>
            </a: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</a:t>
            </a:r>
            <a:r>
              <a:rPr lang="en-US" sz="16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meses_delay</a:t>
            </a: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6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util_credito</a:t>
            </a: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6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deuda_neta</a:t>
            </a:r>
            <a:endParaRPr lang="en-US" sz="1650" dirty="0">
              <a:solidFill>
                <a:srgbClr val="2B4150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285750" indent="-285750" algn="l">
              <a:lnSpc>
                <a:spcPts val="26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Tendencias</a:t>
            </a: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</a:t>
            </a:r>
            <a:r>
              <a:rPr lang="en-US" sz="16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pago</a:t>
            </a: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 </a:t>
            </a:r>
            <a:r>
              <a:rPr lang="en-US" sz="16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deuda</a:t>
            </a: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6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varianza</a:t>
            </a: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</a:t>
            </a:r>
            <a:r>
              <a:rPr lang="en-US" sz="16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pagos</a:t>
            </a: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AGE_GROUP</a:t>
            </a:r>
          </a:p>
        </p:txBody>
      </p:sp>
      <p:sp>
        <p:nvSpPr>
          <p:cNvPr id="12" name="Text 10"/>
          <p:cNvSpPr/>
          <p:nvPr/>
        </p:nvSpPr>
        <p:spPr>
          <a:xfrm>
            <a:off x="12012929" y="2566400"/>
            <a:ext cx="2347555" cy="752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0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22.1%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1847196" y="3490435"/>
            <a:ext cx="267902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Tasa Default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012929" y="3948112"/>
            <a:ext cx="234755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Media poblacional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740253" y="5507594"/>
            <a:ext cx="6463903" cy="1884997"/>
          </a:xfrm>
          <a:prstGeom prst="roundRect">
            <a:avLst>
              <a:gd name="adj" fmla="val 1706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7954566" y="5721907"/>
            <a:ext cx="279642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Análisis de Correlación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954566" y="6178154"/>
            <a:ext cx="6035278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Spearman reveló meses_delay (r=0.39) y PAY_0 (r=0.29) como predictores más fuertes. 3 de top 8 features importantes fueron variables ingenierizadas.</a:t>
            </a:r>
            <a:endParaRPr lang="en-US" sz="16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8FC28D0-A313-31E8-8AA8-3807B4378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846" y="4453773"/>
            <a:ext cx="4271118" cy="320587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9772CF7-EFC0-0563-F5E6-55C32CF8C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289" y="1877616"/>
            <a:ext cx="4115907" cy="34055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5951" y="281603"/>
            <a:ext cx="6622018" cy="43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50" dirty="0">
                <a:solidFill>
                  <a:srgbClr val="124E7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Credit Default — GBT Classifier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11963757" y="2167354"/>
            <a:ext cx="1720691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77.4%</a:t>
            </a:r>
            <a:endParaRPr lang="en-US" sz="2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4924" y="1293078"/>
            <a:ext cx="2098477" cy="20984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949827" y="3512641"/>
            <a:ext cx="1748790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ROC AUC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251287" y="3782913"/>
            <a:ext cx="3145869" cy="18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Poder discriminativo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977807" y="4989076"/>
            <a:ext cx="1720691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84.2%</a:t>
            </a:r>
            <a:endParaRPr lang="en-US" sz="2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8974" y="4114800"/>
            <a:ext cx="2098477" cy="20984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963758" y="6334363"/>
            <a:ext cx="1748790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Recall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1265218" y="6604635"/>
            <a:ext cx="3145988" cy="18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Detección de default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227367" y="7117106"/>
            <a:ext cx="2109668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Configuración del Modelo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27367" y="7421906"/>
            <a:ext cx="4656058" cy="542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Gradient Boosted Trees con 190 estimadores, learning rate de 0.05 y profundidad máxima de 4. Umbral optimizado en 0.13 usando F2-score para priorizar recall.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232279" y="7117106"/>
            <a:ext cx="1748790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Features Principales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232279" y="7421905"/>
            <a:ext cx="3765107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DELAY_PAYS 17%, PAY_0 15%, util_credito 8%, meses_delay 7%.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227367" y="917615"/>
            <a:ext cx="3768566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24E7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Impacto Financiero en Test Set (5,990 clientes)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1227367" y="1265635"/>
            <a:ext cx="3160276" cy="761405"/>
          </a:xfrm>
          <a:prstGeom prst="roundRect">
            <a:avLst>
              <a:gd name="adj" fmla="val 2756"/>
            </a:avLst>
          </a:prstGeom>
          <a:solidFill>
            <a:srgbClr val="FFFCF5"/>
          </a:solidFill>
          <a:ln w="1524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6"/>
          <p:cNvSpPr/>
          <p:nvPr/>
        </p:nvSpPr>
        <p:spPr>
          <a:xfrm>
            <a:off x="1382506" y="1420774"/>
            <a:ext cx="1748790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NT$48.1M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382506" y="1691045"/>
            <a:ext cx="2849999" cy="18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Deuda protegida (TP)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473845" y="1265635"/>
            <a:ext cx="3160276" cy="761405"/>
          </a:xfrm>
          <a:prstGeom prst="roundRect">
            <a:avLst>
              <a:gd name="adj" fmla="val 2756"/>
            </a:avLst>
          </a:prstGeom>
          <a:solidFill>
            <a:srgbClr val="FFFCF5"/>
          </a:solidFill>
          <a:ln w="1524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19"/>
          <p:cNvSpPr/>
          <p:nvPr/>
        </p:nvSpPr>
        <p:spPr>
          <a:xfrm>
            <a:off x="4628983" y="1420774"/>
            <a:ext cx="1748790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NT$12.9M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4628983" y="1691045"/>
            <a:ext cx="2849999" cy="18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Pérdida no detectada (FN)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1227367" y="2124076"/>
            <a:ext cx="9653349" cy="449461"/>
          </a:xfrm>
          <a:prstGeom prst="roundRect">
            <a:avLst>
              <a:gd name="adj" fmla="val 4669"/>
            </a:avLst>
          </a:prstGeom>
          <a:solidFill>
            <a:srgbClr val="C9DDE9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7266" y="2305884"/>
            <a:ext cx="174784" cy="13989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681948" y="2245162"/>
            <a:ext cx="9058870" cy="18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modelo enfrenta dificultades con "default silenciosos" — clientes sin historial de retrasos previos que de repente incumplen.</a:t>
            </a:r>
            <a:endParaRPr lang="en-US" sz="11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C1ED9ED-BA88-2DBE-D21E-8851DE5E39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262" y="2659737"/>
            <a:ext cx="9806455" cy="41836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0218" y="1055846"/>
            <a:ext cx="8812649" cy="50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124E7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Payment Amount — GBT </a:t>
            </a:r>
            <a:r>
              <a:rPr lang="en-US" sz="3150" dirty="0" err="1">
                <a:solidFill>
                  <a:srgbClr val="124E7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Regresión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1740218" y="1871663"/>
            <a:ext cx="3620691" cy="533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415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86.4%</a:t>
            </a:r>
            <a:endParaRPr lang="en-US" sz="4150" dirty="0"/>
          </a:p>
        </p:txBody>
      </p:sp>
      <p:sp>
        <p:nvSpPr>
          <p:cNvPr id="4" name="Text 2"/>
          <p:cNvSpPr/>
          <p:nvPr/>
        </p:nvSpPr>
        <p:spPr>
          <a:xfrm>
            <a:off x="2540556" y="2571869"/>
            <a:ext cx="2019895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R2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740218" y="2893457"/>
            <a:ext cx="3620691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Coeficiente determinación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504736" y="1871663"/>
            <a:ext cx="3620691" cy="533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415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$2,066</a:t>
            </a:r>
            <a:endParaRPr lang="en-US" sz="4150" dirty="0"/>
          </a:p>
        </p:txBody>
      </p:sp>
      <p:sp>
        <p:nvSpPr>
          <p:cNvPr id="7" name="Text 5"/>
          <p:cNvSpPr/>
          <p:nvPr/>
        </p:nvSpPr>
        <p:spPr>
          <a:xfrm>
            <a:off x="6305074" y="2571869"/>
            <a:ext cx="2019895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MAE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504736" y="2893457"/>
            <a:ext cx="3620691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NT$ error promedio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69254" y="1871663"/>
            <a:ext cx="3620691" cy="533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415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$267</a:t>
            </a:r>
            <a:endParaRPr lang="en-US" sz="4150" dirty="0"/>
          </a:p>
        </p:txBody>
      </p:sp>
      <p:sp>
        <p:nvSpPr>
          <p:cNvPr id="10" name="Text 8"/>
          <p:cNvSpPr/>
          <p:nvPr/>
        </p:nvSpPr>
        <p:spPr>
          <a:xfrm>
            <a:off x="10069592" y="2571869"/>
            <a:ext cx="2019895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Error Mediano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269254" y="2893457"/>
            <a:ext cx="3620691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NT$ en test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740218" y="3287316"/>
            <a:ext cx="2019895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24E7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Configuración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740218" y="3712488"/>
            <a:ext cx="11149846" cy="44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GBT Regressor. Variable objetivo: PAY_AMT4 (monto pago mes 4), predicho en escala logarítmica. Modelo generaliza bien — R2 mejora de validación (0.853) a test (0.864).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740218" y="4327565"/>
            <a:ext cx="2019895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24E7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Features Principales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740218" y="4752737"/>
            <a:ext cx="11149846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BILL_AMT5 62.7%, PAY_5 23.3%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740218" y="5146596"/>
            <a:ext cx="2965252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24E73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Desempeño por Rango de Pago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1740218" y="5571768"/>
            <a:ext cx="5517356" cy="911662"/>
          </a:xfrm>
          <a:prstGeom prst="roundRect">
            <a:avLst>
              <a:gd name="adj" fmla="val 12036"/>
            </a:avLst>
          </a:prstGeom>
          <a:solidFill>
            <a:srgbClr val="FFFCF5"/>
          </a:solidFill>
          <a:ln w="2286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1717358" y="5571768"/>
            <a:ext cx="91440" cy="911662"/>
          </a:xfrm>
          <a:prstGeom prst="roundRect">
            <a:avLst>
              <a:gd name="adj" fmla="val 26508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1993225" y="5756196"/>
            <a:ext cx="2493407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NT$1K-20K (Rango Típico)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993225" y="6077783"/>
            <a:ext cx="5079921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Error 31-33%. Modelo funciona bien en pagos comunes.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72588" y="5571768"/>
            <a:ext cx="5517475" cy="911662"/>
          </a:xfrm>
          <a:prstGeom prst="roundRect">
            <a:avLst>
              <a:gd name="adj" fmla="val 12036"/>
            </a:avLst>
          </a:prstGeom>
          <a:solidFill>
            <a:srgbClr val="FFFCF5"/>
          </a:solidFill>
          <a:ln w="2286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7349728" y="5571768"/>
            <a:ext cx="91440" cy="911662"/>
          </a:xfrm>
          <a:prstGeom prst="roundRect">
            <a:avLst>
              <a:gd name="adj" fmla="val 26508"/>
            </a:avLst>
          </a:prstGeom>
          <a:solidFill>
            <a:srgbClr val="325F7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7625596" y="5756196"/>
            <a:ext cx="2279809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&gt;NT$100K (Pagos Altos)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625596" y="6077783"/>
            <a:ext cx="5080040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Error 60.7%. Subestima sistemáticamente pagos grandes.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740218" y="6612850"/>
            <a:ext cx="11149846" cy="560903"/>
          </a:xfrm>
          <a:prstGeom prst="roundRect">
            <a:avLst>
              <a:gd name="adj" fmla="val 4321"/>
            </a:avLst>
          </a:prstGeom>
          <a:solidFill>
            <a:srgbClr val="C9DDE9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785" y="6833354"/>
            <a:ext cx="201930" cy="1615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2265283" y="6768227"/>
            <a:ext cx="10463212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</a:t>
            </a:r>
            <a:r>
              <a:rPr lang="en-US" sz="1250" dirty="0" err="1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modelo</a:t>
            </a:r>
            <a:r>
              <a:rPr lang="en-US" sz="12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subestima pagos totales en NT$4.4M (15.1% por debajo de actual). Considerar esto en planificación de flujo de caja.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396</Words>
  <Application>Microsoft Office PowerPoint</Application>
  <PresentationFormat>Custom</PresentationFormat>
  <Paragraphs>54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Nanum Gothic</vt:lpstr>
      <vt:lpstr>Source Sans 3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Axel Aarón Luna Quiñones</cp:lastModifiedBy>
  <cp:revision>2</cp:revision>
  <dcterms:created xsi:type="dcterms:W3CDTF">2026-03-21T17:15:20Z</dcterms:created>
  <dcterms:modified xsi:type="dcterms:W3CDTF">2026-03-26T17:22:36Z</dcterms:modified>
</cp:coreProperties>
</file>